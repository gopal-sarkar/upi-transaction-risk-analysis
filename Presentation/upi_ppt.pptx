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6E913D-0F40-4CE1-8363-E55B917A2397}" v="17" dt="2026-06-21T19:05:26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pal sarkar" userId="951b5bceb0d921be" providerId="LiveId" clId="{99EE833C-E043-4EEC-8451-3FEEB287D391}"/>
    <pc:docChg chg="undo custSel modSld">
      <pc:chgData name="gopal sarkar" userId="951b5bceb0d921be" providerId="LiveId" clId="{99EE833C-E043-4EEC-8451-3FEEB287D391}" dt="2026-06-21T19:04:51.376" v="50" actId="207"/>
      <pc:docMkLst>
        <pc:docMk/>
      </pc:docMkLst>
      <pc:sldChg chg="modSp mod">
        <pc:chgData name="gopal sarkar" userId="951b5bceb0d921be" providerId="LiveId" clId="{99EE833C-E043-4EEC-8451-3FEEB287D391}" dt="2026-06-21T19:04:51.376" v="50" actId="207"/>
        <pc:sldMkLst>
          <pc:docMk/>
          <pc:sldMk cId="0" sldId="258"/>
        </pc:sldMkLst>
        <pc:spChg chg="mod">
          <ac:chgData name="gopal sarkar" userId="951b5bceb0d921be" providerId="LiveId" clId="{99EE833C-E043-4EEC-8451-3FEEB287D391}" dt="2026-06-21T18:47:19.709" v="25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gopal sarkar" userId="951b5bceb0d921be" providerId="LiveId" clId="{99EE833C-E043-4EEC-8451-3FEEB287D391}" dt="2026-06-21T19:04:42.907" v="48" actId="20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gopal sarkar" userId="951b5bceb0d921be" providerId="LiveId" clId="{99EE833C-E043-4EEC-8451-3FEEB287D391}" dt="2026-06-21T19:04:39.224" v="47" actId="20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gopal sarkar" userId="951b5bceb0d921be" providerId="LiveId" clId="{99EE833C-E043-4EEC-8451-3FEEB287D391}" dt="2026-06-21T19:04:26.593" v="45" actId="207"/>
          <ac:spMkLst>
            <pc:docMk/>
            <pc:sldMk cId="0" sldId="258"/>
            <ac:spMk id="28" creationId="{00000000-0000-0000-0000-000000000000}"/>
          </ac:spMkLst>
        </pc:spChg>
        <pc:spChg chg="mod">
          <ac:chgData name="gopal sarkar" userId="951b5bceb0d921be" providerId="LiveId" clId="{99EE833C-E043-4EEC-8451-3FEEB287D391}" dt="2026-06-21T19:04:47.221" v="49" actId="207"/>
          <ac:spMkLst>
            <pc:docMk/>
            <pc:sldMk cId="0" sldId="258"/>
            <ac:spMk id="36" creationId="{00000000-0000-0000-0000-000000000000}"/>
          </ac:spMkLst>
        </pc:spChg>
        <pc:spChg chg="mod">
          <ac:chgData name="gopal sarkar" userId="951b5bceb0d921be" providerId="LiveId" clId="{99EE833C-E043-4EEC-8451-3FEEB287D391}" dt="2026-06-21T19:04:51.376" v="50" actId="207"/>
          <ac:spMkLst>
            <pc:docMk/>
            <pc:sldMk cId="0" sldId="258"/>
            <ac:spMk id="44" creationId="{00000000-0000-0000-0000-000000000000}"/>
          </ac:spMkLst>
        </pc:spChg>
      </pc:sldChg>
      <pc:sldChg chg="modSp mod">
        <pc:chgData name="gopal sarkar" userId="951b5bceb0d921be" providerId="LiveId" clId="{99EE833C-E043-4EEC-8451-3FEEB287D391}" dt="2026-06-21T19:03:41.215" v="42" actId="207"/>
        <pc:sldMkLst>
          <pc:docMk/>
          <pc:sldMk cId="0" sldId="259"/>
        </pc:sldMkLst>
        <pc:spChg chg="mod">
          <ac:chgData name="gopal sarkar" userId="951b5bceb0d921be" providerId="LiveId" clId="{99EE833C-E043-4EEC-8451-3FEEB287D391}" dt="2026-06-21T18:48:48.530" v="32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gopal sarkar" userId="951b5bceb0d921be" providerId="LiveId" clId="{99EE833C-E043-4EEC-8451-3FEEB287D391}" dt="2026-06-21T19:03:41.215" v="42" actId="20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gopal sarkar" userId="951b5bceb0d921be" providerId="LiveId" clId="{99EE833C-E043-4EEC-8451-3FEEB287D391}" dt="2026-06-21T19:02:56.969" v="39" actId="207"/>
          <ac:spMkLst>
            <pc:docMk/>
            <pc:sldMk cId="0" sldId="259"/>
            <ac:spMk id="25" creationId="{00000000-0000-0000-0000-000000000000}"/>
          </ac:spMkLst>
        </pc:spChg>
      </pc:sldChg>
      <pc:sldChg chg="addSp delSp modSp mod">
        <pc:chgData name="gopal sarkar" userId="951b5bceb0d921be" providerId="LiveId" clId="{99EE833C-E043-4EEC-8451-3FEEB287D391}" dt="2026-06-21T18:47:21.060" v="26" actId="1035"/>
        <pc:sldMkLst>
          <pc:docMk/>
          <pc:sldMk cId="0" sldId="260"/>
        </pc:sldMkLst>
        <pc:spChg chg="mod">
          <ac:chgData name="gopal sarkar" userId="951b5bceb0d921be" providerId="LiveId" clId="{99EE833C-E043-4EEC-8451-3FEEB287D391}" dt="2026-06-21T18:47:21.060" v="26" actId="1035"/>
          <ac:spMkLst>
            <pc:docMk/>
            <pc:sldMk cId="0" sldId="260"/>
            <ac:spMk id="3" creationId="{00000000-0000-0000-0000-000000000000}"/>
          </ac:spMkLst>
        </pc:spChg>
        <pc:spChg chg="mod">
          <ac:chgData name="gopal sarkar" userId="951b5bceb0d921be" providerId="LiveId" clId="{99EE833C-E043-4EEC-8451-3FEEB287D391}" dt="2026-06-21T17:11:49.252" v="12" actId="20577"/>
          <ac:spMkLst>
            <pc:docMk/>
            <pc:sldMk cId="0" sldId="260"/>
            <ac:spMk id="12" creationId="{00000000-0000-0000-0000-000000000000}"/>
          </ac:spMkLst>
        </pc:spChg>
        <pc:picChg chg="del mod">
          <ac:chgData name="gopal sarkar" userId="951b5bceb0d921be" providerId="LiveId" clId="{99EE833C-E043-4EEC-8451-3FEEB287D391}" dt="2026-06-21T17:10:39.881" v="4" actId="478"/>
          <ac:picMkLst>
            <pc:docMk/>
            <pc:sldMk cId="0" sldId="260"/>
            <ac:picMk id="11" creationId="{00000000-0000-0000-0000-000000000000}"/>
          </ac:picMkLst>
        </pc:picChg>
        <pc:picChg chg="add mod">
          <ac:chgData name="gopal sarkar" userId="951b5bceb0d921be" providerId="LiveId" clId="{99EE833C-E043-4EEC-8451-3FEEB287D391}" dt="2026-06-21T17:12:29.280" v="18" actId="1076"/>
          <ac:picMkLst>
            <pc:docMk/>
            <pc:sldMk cId="0" sldId="260"/>
            <ac:picMk id="16" creationId="{3074F9F8-D561-DF01-3651-EDC1BAC6425E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284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morning/afternoon. I'm Gopal Sarkar. My capstone project analyzed 1 lakh UPI transactions to identify fraud patterns, failure causes, and actionable business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analyzed a UPI platform with 1 lakh transactions across 7 linked tables. My core question: where is fraud happening, why are payments failing, and what can be done?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project followed 5 phases — validation, EDA, statistical testing, Power BI dashboard, and this presentation. Each phase fed the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used Python for the full analysis, Power BI for the interactive dashboard, and four statistical tests to validate findings — not just visual impressions.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EDA findings stand out: 92.14% of transactions succeed but 5.87% fail every day. Feature phones show the highest fraud rate. And transaction volume has grown from 5 transactions in 2020 to 64,000 in 2025 — a growth that makes manual fraud review impossible.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248 fraud alerts are still open. This is not a historical insight — it is a live operational risk. The four alert types are almost equally distributed, meaning no single alert type dominates. The 48-hour SLA recommendation directly addresses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my strongest finding. Rooted devices showed 20.69% fraud versus 1.39% for normal devices — 15 times higher. Z-statistic was 76.39, p-value effectively zero. Rooted devices are 3.17% of transactions but disproportionately drive fraud.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ran four statistical tests. Only the Z-test was significant — rooted devices are a proven risk. Chi-Square tests showed fraud is not linked to channel or region. ANOVA showed transaction amounts are nearly identical across device types. The correlation result is the most sobering: the existing risk_score field has r = -0.0079, meaning it predicts essentially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insights stood out from the analysis. The most urgent: 248 fraud alerts are still open right now — that is an active financial risk, not a historical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recommendations are practical and low-cost. A PIN reminder screen costs almost nothing to build but could meaningfully cut the failure rate. The 48-hour SLA is a process change — no new technology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is a foundation. With more time, the natural next step is a real-time scoring model — the data structure I built here would directly support it.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resize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>
              <a:alpha val="6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94360" y="594360"/>
            <a:ext cx="749808" cy="7498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781812"/>
            <a:ext cx="374904" cy="3749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536192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UPI Transaction Risk &amp;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Analysis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457200" y="278892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 ·  Performance  ·  Security  ·  Growth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457200" y="3474720"/>
            <a:ext cx="4846320" cy="1298448"/>
          </a:xfrm>
          <a:prstGeom prst="roundRect">
            <a:avLst>
              <a:gd name="adj" fmla="val 4930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777240" y="363016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Gopal Sarkar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Career247  |  Data Analytics Capstone Project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57200" y="5074920"/>
            <a:ext cx="3566160" cy="1261872"/>
          </a:xfrm>
          <a:prstGeom prst="roundRect">
            <a:avLst>
              <a:gd name="adj" fmla="val 5072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457200" y="51937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1,00,000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457200" y="5870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Analysed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70248" y="5074920"/>
            <a:ext cx="3566160" cy="1261872"/>
          </a:xfrm>
          <a:prstGeom prst="roundRect">
            <a:avLst>
              <a:gd name="adj" fmla="val 5072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4270248" y="51937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4270248" y="5870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Data Tables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83296" y="5074920"/>
            <a:ext cx="3566160" cy="1261872"/>
          </a:xfrm>
          <a:prstGeom prst="roundRect">
            <a:avLst>
              <a:gd name="adj" fmla="val 5072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8083296" y="51937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8083296" y="5870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Fraud Rate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resize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is this project solving?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6217920" cy="5138928"/>
          </a:xfrm>
          <a:prstGeom prst="roundRect">
            <a:avLst>
              <a:gd name="adj" fmla="val 1246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77240" y="153619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Challenge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93852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has grown to billions of transactions across India. But rapid growth brings new problems: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249631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rising — rooted devices are a major risk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288036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17 payments fails — costing user trust every day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26440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fraud alerts are still unresolved right now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364845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risk scores exist but no one is reviewing them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" y="4032504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averages just 3.61/5 — trust is slipping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" y="5193792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just data problems — they are business problems. </a:t>
            </a: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unaddressed, they erode customer confidence and revenue.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903720" y="1371600"/>
            <a:ext cx="4846320" cy="1572768"/>
          </a:xfrm>
          <a:prstGeom prst="roundRect">
            <a:avLst>
              <a:gd name="adj" fmla="val 4070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903720" y="153619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1,00,000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7223760" y="24871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analysed across 5 years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03720" y="3108960"/>
            <a:ext cx="4846320" cy="1572768"/>
          </a:xfrm>
          <a:prstGeom prst="roundRect">
            <a:avLst>
              <a:gd name="adj" fmla="val 4070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903720" y="327355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7223760" y="42245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— 2,000 flagged transactions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03720" y="4846320"/>
            <a:ext cx="4846320" cy="1572768"/>
          </a:xfrm>
          <a:prstGeom prst="roundRect">
            <a:avLst>
              <a:gd name="adj" fmla="val 4070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903720" y="501091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5.87%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7223760" y="5961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— 5,871 failed payments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resize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Phases &amp; 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phases from raw data to business recommendations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7736" y="1481328"/>
            <a:ext cx="2084832" cy="4224528"/>
          </a:xfrm>
          <a:prstGeom prst="roundRect">
            <a:avLst>
              <a:gd name="adj" fmla="val 3070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37464" y="1572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59256" y="190195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704" y="205740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9176" y="2670048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19176" y="336499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74040" y="3730752"/>
            <a:ext cx="17922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IN" sz="950" dirty="0">
                <a:solidFill>
                  <a:schemeClr val="bg1"/>
                </a:solidFill>
              </a:rPr>
              <a:t>Checked data types, missing values, and validated structure across all 7 tables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2712568" y="3319272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2840584" y="1481328"/>
            <a:ext cx="2084832" cy="4224528"/>
          </a:xfrm>
          <a:prstGeom prst="roundRect">
            <a:avLst>
              <a:gd name="adj" fmla="val 3070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2950312" y="1572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572104" y="1901952"/>
            <a:ext cx="621792" cy="621792"/>
          </a:xfrm>
          <a:prstGeom prst="ellipse">
            <a:avLst/>
          </a:prstGeom>
          <a:solidFill>
            <a:srgbClr val="5BC8D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7552" y="205740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932024" y="2670048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2932024" y="336499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2986888" y="3730752"/>
            <a:ext cx="17922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data, built derived metrics, visualised fraud &amp; failure patterns across device, region, channel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1" name="Text 16"/>
          <p:cNvSpPr/>
          <p:nvPr/>
        </p:nvSpPr>
        <p:spPr>
          <a:xfrm>
            <a:off x="4925416" y="3319272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053432" y="1481328"/>
            <a:ext cx="2084832" cy="4224528"/>
          </a:xfrm>
          <a:prstGeom prst="roundRect">
            <a:avLst>
              <a:gd name="adj" fmla="val 3070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5163160" y="1572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784952" y="1901952"/>
            <a:ext cx="621792" cy="62179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0400" y="205740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44872" y="2670048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144872" y="336499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199736" y="3730752"/>
            <a:ext cx="17922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IN" sz="950" dirty="0">
                <a:solidFill>
                  <a:schemeClr val="bg1"/>
                </a:solidFill>
              </a:rPr>
              <a:t>Two Z-tests, Chi-Square, One-Way ANOVA. IQR anomaly detection on transaction amounts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9" name="Text 23"/>
          <p:cNvSpPr/>
          <p:nvPr/>
        </p:nvSpPr>
        <p:spPr>
          <a:xfrm>
            <a:off x="7138264" y="3319272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7266280" y="1481328"/>
            <a:ext cx="2084832" cy="4224528"/>
          </a:xfrm>
          <a:prstGeom prst="roundRect">
            <a:avLst>
              <a:gd name="adj" fmla="val 3070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7376008" y="1572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7997800" y="1901952"/>
            <a:ext cx="621792" cy="621792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3248" y="2057400"/>
            <a:ext cx="310896" cy="31089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357720" y="2670048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7357720" y="336499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7412584" y="3730752"/>
            <a:ext cx="17922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interactive dashboard with live slicers for region, device, year, channel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37" name="Text 30"/>
          <p:cNvSpPr/>
          <p:nvPr/>
        </p:nvSpPr>
        <p:spPr>
          <a:xfrm>
            <a:off x="9351112" y="3319272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1"/>
          <p:cNvSpPr/>
          <p:nvPr/>
        </p:nvSpPr>
        <p:spPr>
          <a:xfrm>
            <a:off x="9479128" y="1481328"/>
            <a:ext cx="2084832" cy="4224528"/>
          </a:xfrm>
          <a:prstGeom prst="roundRect">
            <a:avLst>
              <a:gd name="adj" fmla="val 3070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2"/>
          <p:cNvSpPr/>
          <p:nvPr/>
        </p:nvSpPr>
        <p:spPr>
          <a:xfrm>
            <a:off x="9588856" y="1572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10210648" y="1901952"/>
            <a:ext cx="621792" cy="621792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6096" y="2057400"/>
            <a:ext cx="310896" cy="31089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9570568" y="2670048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Present.</a:t>
            </a:r>
            <a:endParaRPr lang="en-US" sz="1350" dirty="0"/>
          </a:p>
        </p:txBody>
      </p:sp>
      <p:sp>
        <p:nvSpPr>
          <p:cNvPr id="43" name="Text 35"/>
          <p:cNvSpPr/>
          <p:nvPr/>
        </p:nvSpPr>
        <p:spPr>
          <a:xfrm>
            <a:off x="9570568" y="336499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PPT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9625432" y="3730752"/>
            <a:ext cx="17922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actionable business recommendations backed by real numbers from the full analysis</a:t>
            </a:r>
            <a:endParaRPr lang="en-US" sz="9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resize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Techniques Used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chosen for a specific reason — not just because it was available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1247120" cy="969264"/>
          </a:xfrm>
          <a:prstGeom prst="roundRect">
            <a:avLst>
              <a:gd name="adj" fmla="val 6604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58368" y="173736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042416" y="14447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42416" y="18288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840480" y="1371600"/>
            <a:ext cx="7589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IN" sz="1100" dirty="0">
                <a:solidFill>
                  <a:schemeClr val="bg1"/>
                </a:solidFill>
              </a:rPr>
              <a:t>Checked data types, missing values, and validated all 7 tables for consistency. Built a Data Quality Log.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7200" y="2450592"/>
            <a:ext cx="11247120" cy="969264"/>
          </a:xfrm>
          <a:prstGeom prst="roundRect">
            <a:avLst>
              <a:gd name="adj" fmla="val 6604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58368" y="2816352"/>
            <a:ext cx="237744" cy="237744"/>
          </a:xfrm>
          <a:prstGeom prst="ellipse">
            <a:avLst/>
          </a:prstGeom>
          <a:solidFill>
            <a:srgbClr val="5BC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1042416" y="25237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Pandas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42416" y="29077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840480" y="2450592"/>
            <a:ext cx="7589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all 7 CSVs, cleaned data, created 4 derived columns (Fraud Ratio, Failure Rate, Device Risk, Txn Value per Customer).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529584"/>
            <a:ext cx="11247120" cy="969264"/>
          </a:xfrm>
          <a:prstGeom prst="roundRect">
            <a:avLst>
              <a:gd name="adj" fmla="val 6604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58368" y="3895344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042416" y="36027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Matplotlib / Seaborn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42416" y="39867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840480" y="3529584"/>
            <a:ext cx="7589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IN" sz="1100" dirty="0">
                <a:solidFill>
                  <a:schemeClr val="bg1"/>
                </a:solidFill>
              </a:rPr>
              <a:t>Two-Proportion Z-test (rooted vs non-rooted fraud), One-Proportion Z-test (fraud rate vs 1% industry baseline), Chi-Square Test (fraud×region, fraud×channel), One-Way ANOVA (fraud rate across 5 regions).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57200" y="4608576"/>
            <a:ext cx="11247120" cy="969264"/>
          </a:xfrm>
          <a:prstGeom prst="roundRect">
            <a:avLst>
              <a:gd name="adj" fmla="val 6604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658368" y="4974336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1042416" y="46817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SciPy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042416" y="50657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840480" y="4608576"/>
            <a:ext cx="7589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Two-Proportion Z-test (rooted vs non-rooted fraud), One-Proportion Z-test (fraud rate vs 1% industry baseline), Chi-Square Test (fraud×region, fraud×channel), One-Way ANOVA (fraud rate across 5 regions).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5687568"/>
            <a:ext cx="11247120" cy="969264"/>
          </a:xfrm>
          <a:prstGeom prst="roundRect">
            <a:avLst>
              <a:gd name="adj" fmla="val 6604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658368" y="6053328"/>
            <a:ext cx="237744" cy="237744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1042416" y="5760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042416" y="61447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840480" y="5687568"/>
            <a:ext cx="7589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dashboard with live slicers (region, year, device, channel). DAX measures for all KPIs including Unresolved Alerts.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resize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>
              <a:alpha val="8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Key Patterns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from Power BI dashboard built on the actual dataset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5394960" cy="2450592"/>
          </a:xfrm>
          <a:prstGeom prst="roundRect">
            <a:avLst>
              <a:gd name="adj" fmla="val 2612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chart_status_donu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1417320"/>
            <a:ext cx="5212080" cy="2331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080760" y="1371600"/>
            <a:ext cx="5650992" cy="2450592"/>
          </a:xfrm>
          <a:prstGeom prst="roundRect">
            <a:avLst>
              <a:gd name="adj" fmla="val 2612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2" descr="chart_fraud_devic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72200" y="1417320"/>
            <a:ext cx="5468112" cy="23317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57200" y="4023360"/>
            <a:ext cx="6945952" cy="2487168"/>
          </a:xfrm>
          <a:prstGeom prst="roundRect">
            <a:avLst>
              <a:gd name="adj" fmla="val 2574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6"/>
          <p:cNvSpPr/>
          <p:nvPr/>
        </p:nvSpPr>
        <p:spPr>
          <a:xfrm>
            <a:off x="594360" y="6419088"/>
            <a:ext cx="67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Shape 6"/>
          <p:cNvSpPr/>
          <p:nvPr/>
        </p:nvSpPr>
        <p:spPr>
          <a:xfrm>
            <a:off x="7631752" y="4023360"/>
            <a:ext cx="4100000" cy="2487168"/>
          </a:xfrm>
          <a:prstGeom prst="roundRect">
            <a:avLst>
              <a:gd name="adj" fmla="val 2574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4" descr="chart_failure_reasons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99757" y="4069080"/>
            <a:ext cx="3763989" cy="239572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074F9F8-D561-DF01-3651-EDC1BAC642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254" y="4161453"/>
            <a:ext cx="6621181" cy="22576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resize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>
              <a:alpha val="8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Alert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types of fraud are occurring — and how many are unresolved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5943600" cy="3657600"/>
          </a:xfrm>
          <a:prstGeom prst="roundRect">
            <a:avLst>
              <a:gd name="adj" fmla="val 1750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chart_alert_donu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1417320"/>
            <a:ext cx="5760720" cy="35204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83680" y="1371600"/>
            <a:ext cx="5166360" cy="1051560"/>
          </a:xfrm>
          <a:prstGeom prst="roundRect">
            <a:avLst>
              <a:gd name="adj" fmla="val 6087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6583680" y="144475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6766560" y="20574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fraud alerts logged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583680" y="2560320"/>
            <a:ext cx="5166360" cy="1051560"/>
          </a:xfrm>
          <a:prstGeom prst="roundRect">
            <a:avLst>
              <a:gd name="adj" fmla="val 6087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6583680" y="263347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6766560" y="32461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alerts — live risk NOW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583680" y="3749040"/>
            <a:ext cx="5166360" cy="1051560"/>
          </a:xfrm>
          <a:prstGeom prst="roundRect">
            <a:avLst>
              <a:gd name="adj" fmla="val 6087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6583680" y="38221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87.6%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6766560" y="44348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rate (1,752 resolved)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583680" y="4956048"/>
            <a:ext cx="5166360" cy="1508760"/>
          </a:xfrm>
          <a:prstGeom prst="roundRect">
            <a:avLst>
              <a:gd name="adj" fmla="val 4242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6812280" y="504748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Type Breakdown (from data):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812280" y="53949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Time       : 507  (25.35%)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812280" y="5669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Failure   : 501  (25.05%)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812280" y="59436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Login   : 498  (24.90%)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812280" y="62179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Amount     : 494  (24.70%)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57200" y="5212080"/>
            <a:ext cx="5943600" cy="1325880"/>
          </a:xfrm>
          <a:prstGeom prst="roundRect">
            <a:avLst>
              <a:gd name="adj" fmla="val 4828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B98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685800" y="5212080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B98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risk: </a:t>
            </a: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unresolved alerts are a live financial exposure — not historical. Each alert left open is a transaction that may already be fraudulent and unchallenged.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resize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>
              <a:alpha val="8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Testing — Hypothesis Result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quantitative finding in this project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1274552" cy="713232"/>
          </a:xfrm>
          <a:prstGeom prst="roundRect">
            <a:avLst>
              <a:gd name="adj" fmla="val 8974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31520" y="137160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(Null):  </a:t>
            </a: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of rooted devices = fraud rate of non-rooted devices     </a:t>
            </a:r>
            <a:r>
              <a:rPr lang="en-US" sz="1250" b="1" dirty="0">
                <a:solidFill>
                  <a:srgbClr val="5B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(Alt):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of rooted devices &gt; fraud rate of non-rooted devices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231136"/>
            <a:ext cx="5715000" cy="3337560"/>
          </a:xfrm>
          <a:prstGeom prst="roundRect">
            <a:avLst>
              <a:gd name="adj" fmla="val 1918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chart_rooted_ba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2286000"/>
            <a:ext cx="5532120" cy="32186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55080" y="2231136"/>
            <a:ext cx="5376672" cy="1481328"/>
          </a:xfrm>
          <a:prstGeom prst="roundRect">
            <a:avLst>
              <a:gd name="adj" fmla="val 4321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6355080" y="2322576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20.69%</a:t>
            </a:r>
            <a:endParaRPr lang="en-US" sz="3800" dirty="0"/>
          </a:p>
        </p:txBody>
      </p:sp>
      <p:sp>
        <p:nvSpPr>
          <p:cNvPr id="12" name="Text 8"/>
          <p:cNvSpPr/>
          <p:nvPr/>
        </p:nvSpPr>
        <p:spPr>
          <a:xfrm>
            <a:off x="6492240" y="2999232"/>
            <a:ext cx="5102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on rooted devices  (370 devices, 3,171 transactions)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355080" y="3858768"/>
            <a:ext cx="5376672" cy="1481328"/>
          </a:xfrm>
          <a:prstGeom prst="roundRect">
            <a:avLst>
              <a:gd name="adj" fmla="val 4321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6355080" y="3950208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1.39%</a:t>
            </a:r>
            <a:endParaRPr lang="en-US" sz="3800" dirty="0"/>
          </a:p>
        </p:txBody>
      </p:sp>
      <p:sp>
        <p:nvSpPr>
          <p:cNvPr id="15" name="Text 11"/>
          <p:cNvSpPr/>
          <p:nvPr/>
        </p:nvSpPr>
        <p:spPr>
          <a:xfrm>
            <a:off x="6492240" y="4663440"/>
            <a:ext cx="5102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on non-rooted devices  (11,590 devices, 96,829 transactions)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355080" y="5486400"/>
            <a:ext cx="5376672" cy="969264"/>
          </a:xfrm>
          <a:prstGeom prst="roundRect">
            <a:avLst>
              <a:gd name="adj" fmla="val 6604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6583680" y="5486400"/>
            <a:ext cx="49194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Z-stat = 76.39   |   p &lt; 0.0001   |   </a:t>
            </a:r>
            <a:r>
              <a:rPr lang="en-US" sz="12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  ✓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57200" y="57607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devices show a fraud rate 15× higher than non-rooted. This is statistically proven — not a coincidence.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resize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Testing — Full Results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tests with actual p-values from the dataset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1274552" cy="1005956"/>
          </a:xfrm>
          <a:prstGeom prst="roundRect">
            <a:avLst>
              <a:gd name="adj" fmla="val 5303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920240" cy="1005956"/>
          </a:xfrm>
          <a:prstGeom prst="roundRect">
            <a:avLst>
              <a:gd name="adj" fmla="val 5303"/>
            </a:avLst>
          </a:prstGeom>
          <a:solidFill>
            <a:srgbClr val="E24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371600"/>
            <a:ext cx="1920240" cy="1005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560320" y="1432567"/>
            <a:ext cx="8778240" cy="28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— Two-Proportion Z-Test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560320" y="1722160"/>
            <a:ext cx="5943600" cy="22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fraud rate significantly higher on rooted devices?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560320" y="1966028"/>
            <a:ext cx="5943600" cy="28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76.39   </a:t>
            </a:r>
            <a:r>
              <a:rPr lang="en-US" sz="12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60320" y="2110825"/>
            <a:ext cx="8778240" cy="22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devices have a 20.69% fraud rate vs 1.39% for non-rooted — a 15× difference that is statistically real.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397556"/>
            <a:ext cx="11274552" cy="1005956"/>
          </a:xfrm>
          <a:prstGeom prst="roundRect">
            <a:avLst>
              <a:gd name="adj" fmla="val 5303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57200" y="2397556"/>
            <a:ext cx="1920240" cy="1005956"/>
          </a:xfrm>
          <a:prstGeom prst="roundRect">
            <a:avLst>
              <a:gd name="adj" fmla="val 5303"/>
            </a:avLst>
          </a:prstGeom>
          <a:solidFill>
            <a:srgbClr val="0B12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7200" y="2397556"/>
            <a:ext cx="1920240" cy="1005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FAIL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560320" y="2458523"/>
            <a:ext cx="8778240" cy="28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— Chi-Square: Fraud × Channel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560320" y="2748116"/>
            <a:ext cx="5943600" cy="22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fraud occurrence associated with the payment channel used?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560320" y="2991984"/>
            <a:ext cx="5943600" cy="28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3.88   </a:t>
            </a:r>
            <a:r>
              <a:rPr lang="en-US" sz="12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0.1434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560320" y="3136781"/>
            <a:ext cx="8778240" cy="22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association. App (2.02%), QR Code (2.10%), Intent (1.89%) — channel does not drive fraud.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3423512"/>
            <a:ext cx="11274552" cy="1005956"/>
          </a:xfrm>
          <a:prstGeom prst="roundRect">
            <a:avLst>
              <a:gd name="adj" fmla="val 5303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57200" y="3423512"/>
            <a:ext cx="1920240" cy="1005956"/>
          </a:xfrm>
          <a:prstGeom prst="roundRect">
            <a:avLst>
              <a:gd name="adj" fmla="val 5303"/>
            </a:avLst>
          </a:prstGeom>
          <a:solidFill>
            <a:srgbClr val="0B12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57200" y="3423512"/>
            <a:ext cx="1920240" cy="1005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FAIL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560320" y="3484479"/>
            <a:ext cx="8778240" cy="28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 — Chi-Square: Fraud × Region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2560320" y="3774072"/>
            <a:ext cx="5943600" cy="22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fraud distribution differ significantly across regions?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560320" y="4017940"/>
            <a:ext cx="5943600" cy="28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1.52   </a:t>
            </a:r>
            <a:r>
              <a:rPr lang="en-US" sz="12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0.8224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560320" y="4162737"/>
            <a:ext cx="8778240" cy="22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evenly spread. South: 2.03%, West: 2.09%, East: 2.00%, North: 1.94%, Central: 1.94%.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4449468"/>
            <a:ext cx="11274552" cy="1005956"/>
          </a:xfrm>
          <a:prstGeom prst="roundRect">
            <a:avLst>
              <a:gd name="adj" fmla="val 5303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457200" y="4449468"/>
            <a:ext cx="1920240" cy="1005956"/>
          </a:xfrm>
          <a:prstGeom prst="roundRect">
            <a:avLst>
              <a:gd name="adj" fmla="val 5303"/>
            </a:avLst>
          </a:prstGeom>
          <a:solidFill>
            <a:srgbClr val="0B12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457200" y="4449468"/>
            <a:ext cx="1920240" cy="1005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FAIL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2560320" y="4510435"/>
            <a:ext cx="8778240" cy="28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4 — One-Way ANOVA: Region-wise Fraud Rate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2560320" y="4800028"/>
            <a:ext cx="5943600" cy="22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fraud rate differ significantly across regions?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2560320" y="5043896"/>
            <a:ext cx="5943600" cy="28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0.38   </a:t>
            </a:r>
            <a:r>
              <a:rPr lang="en-US" sz="12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0.82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2560320" y="5188693"/>
            <a:ext cx="8778240" cy="22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spread evenly — not a regional problem. Central 1.94%, East 2.00%, North 1.94%, South 2.03%, West 2.09%.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5475424"/>
            <a:ext cx="11274552" cy="1005956"/>
          </a:xfrm>
          <a:prstGeom prst="roundRect">
            <a:avLst>
              <a:gd name="adj" fmla="val 5303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457200" y="5475424"/>
            <a:ext cx="1920240" cy="1005956"/>
          </a:xfrm>
          <a:prstGeom prst="roundRect">
            <a:avLst>
              <a:gd name="adj" fmla="val 5303"/>
            </a:avLst>
          </a:prstGeom>
          <a:solidFill>
            <a:srgbClr val="E24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5475424"/>
            <a:ext cx="1920240" cy="1005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560320" y="5536391"/>
            <a:ext cx="8778240" cy="28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5 — One-Proportion Z-Test: Overall Fraud Rate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560320" y="5825984"/>
            <a:ext cx="5943600" cy="22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platform's overall fraud rate above the 1% industry baseline?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560320" y="6069852"/>
            <a:ext cx="5943600" cy="28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22.59   p &lt; 0.0001</a:t>
            </a:r>
            <a:r>
              <a:rPr lang="en-US" sz="12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60320" y="6214649"/>
            <a:ext cx="8778240" cy="22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fraud rate is 2.00% (2,000 out of 1,00,000), double the 1% industry baseline — confirmed statistically significant.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resize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Insights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things I found that the business actually needs to know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1274552" cy="886968"/>
          </a:xfrm>
          <a:prstGeom prst="roundRect">
            <a:avLst>
              <a:gd name="adj" fmla="val 7216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005840" cy="886968"/>
          </a:xfrm>
          <a:prstGeom prst="roundRect">
            <a:avLst>
              <a:gd name="adj" fmla="val 72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371600"/>
            <a:ext cx="1005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664208" y="1371600"/>
            <a:ext cx="9784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92.14% of transactions succeed — but 5.87% fail, costing platform trust every day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368296"/>
            <a:ext cx="11274552" cy="886968"/>
          </a:xfrm>
          <a:prstGeom prst="roundRect">
            <a:avLst>
              <a:gd name="adj" fmla="val 7216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57200" y="2368296"/>
            <a:ext cx="1005840" cy="886968"/>
          </a:xfrm>
          <a:prstGeom prst="roundRect">
            <a:avLst>
              <a:gd name="adj" fmla="val 7216"/>
            </a:avLst>
          </a:prstGeom>
          <a:solidFill>
            <a:srgbClr val="E24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57200" y="2368296"/>
            <a:ext cx="1005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664208" y="2368296"/>
            <a:ext cx="9784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devices carry a 20.69% fraud rate — 15× higher than normal. The single biggest preventable risk on the platform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3364992"/>
            <a:ext cx="11274552" cy="886968"/>
          </a:xfrm>
          <a:prstGeom prst="roundRect">
            <a:avLst>
              <a:gd name="adj" fmla="val 7216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57200" y="3364992"/>
            <a:ext cx="1005840" cy="886968"/>
          </a:xfrm>
          <a:prstGeom prst="roundRect">
            <a:avLst>
              <a:gd name="adj" fmla="val 7216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57200" y="3364992"/>
            <a:ext cx="1005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664208" y="3364992"/>
            <a:ext cx="9784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4 failure reasons (Incorrect PIN 1,511 · Network Error 1,486 · Account Blocked 1,455 · Bank Down 1,419) are all roughly equal — all 4 need fixes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4361688"/>
            <a:ext cx="11274552" cy="886968"/>
          </a:xfrm>
          <a:prstGeom prst="roundRect">
            <a:avLst>
              <a:gd name="adj" fmla="val 7216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57200" y="4361688"/>
            <a:ext cx="1005840" cy="886968"/>
          </a:xfrm>
          <a:prstGeom prst="roundRect">
            <a:avLst>
              <a:gd name="adj" fmla="val 7216"/>
            </a:avLst>
          </a:prstGeom>
          <a:solidFill>
            <a:srgbClr val="E0C0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57200" y="4361688"/>
            <a:ext cx="1005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664208" y="4361688"/>
            <a:ext cx="9784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fraud alerts are unresolved right now — not historical data points, active financial risks with no assigned SLA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57200" y="5358384"/>
            <a:ext cx="11274552" cy="886968"/>
          </a:xfrm>
          <a:prstGeom prst="roundRect">
            <a:avLst>
              <a:gd name="adj" fmla="val 7216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57200" y="5358384"/>
            <a:ext cx="1005840" cy="886968"/>
          </a:xfrm>
          <a:prstGeom prst="roundRect">
            <a:avLst>
              <a:gd name="adj" fmla="val 7216"/>
            </a:avLst>
          </a:prstGeom>
          <a:solidFill>
            <a:srgbClr val="B98C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57200" y="5358384"/>
            <a:ext cx="1005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1664208" y="5358384"/>
            <a:ext cx="9784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not linked to channel or region (chi-square p=0.14, p=0.82) — it is a device-risk problem, not a location one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resize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practical actions tied directly to what the data showed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1274552" cy="886968"/>
          </a:xfrm>
          <a:prstGeom prst="roundRect">
            <a:avLst>
              <a:gd name="adj" fmla="val 7216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005840" cy="886968"/>
          </a:xfrm>
          <a:prstGeom prst="roundRect">
            <a:avLst>
              <a:gd name="adj" fmla="val 7216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371600"/>
            <a:ext cx="1005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664208" y="1435608"/>
            <a:ext cx="9784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48-hour SLA for fraud alert resolution
</a:t>
            </a:r>
            <a:r>
              <a:rPr lang="en-US" sz="10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alerts are unresolved. Each is an open risk. Auto-escalate after 24 hours — a process change, not a tech change.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368296"/>
            <a:ext cx="11274552" cy="886968"/>
          </a:xfrm>
          <a:prstGeom prst="roundRect">
            <a:avLst>
              <a:gd name="adj" fmla="val 7216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57200" y="2368296"/>
            <a:ext cx="1005840" cy="886968"/>
          </a:xfrm>
          <a:prstGeom prst="roundRect">
            <a:avLst>
              <a:gd name="adj" fmla="val 7216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57200" y="2368296"/>
            <a:ext cx="1005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664208" y="2432304"/>
            <a:ext cx="9784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PIN reminder after 2 consecutive failed attempts
</a:t>
            </a:r>
            <a:r>
              <a:rPr lang="en-US" sz="10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PIN is the #1 failure reason (1,511 failures). A one-screen reminder costs almost nothing to build.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3364992"/>
            <a:ext cx="11274552" cy="886968"/>
          </a:xfrm>
          <a:prstGeom prst="roundRect">
            <a:avLst>
              <a:gd name="adj" fmla="val 7216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57200" y="3364992"/>
            <a:ext cx="1005840" cy="886968"/>
          </a:xfrm>
          <a:prstGeom prst="roundRect">
            <a:avLst>
              <a:gd name="adj" fmla="val 7216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57200" y="3364992"/>
            <a:ext cx="1005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664208" y="3429000"/>
            <a:ext cx="9784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transactions from rooted devices above ₹500 for extra OTP
</a:t>
            </a:r>
            <a:r>
              <a:rPr lang="en-US" sz="10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devices are 15× riskier. Add friction only on high-value transactions to avoid disrupting normal users.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4361688"/>
            <a:ext cx="11274552" cy="886968"/>
          </a:xfrm>
          <a:prstGeom prst="roundRect">
            <a:avLst>
              <a:gd name="adj" fmla="val 7216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57200" y="4361688"/>
            <a:ext cx="1005840" cy="886968"/>
          </a:xfrm>
          <a:prstGeom prst="roundRect">
            <a:avLst>
              <a:gd name="adj" fmla="val 7216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57200" y="4361688"/>
            <a:ext cx="1005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664208" y="4425696"/>
            <a:ext cx="9784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 of merchants with risk_score &gt; 0.4 (22 merchants)
</a:t>
            </a:r>
            <a:r>
              <a:rPr lang="en-US" sz="10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merchants exist but no monitoring process. 22 are above the 0.4 threshold. 9 exceed 0.45 — start with those.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57200" y="5358384"/>
            <a:ext cx="11274552" cy="886968"/>
          </a:xfrm>
          <a:prstGeom prst="roundRect">
            <a:avLst>
              <a:gd name="adj" fmla="val 7216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57200" y="5358384"/>
            <a:ext cx="1005840" cy="886968"/>
          </a:xfrm>
          <a:prstGeom prst="roundRect">
            <a:avLst>
              <a:gd name="adj" fmla="val 7216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57200" y="5358384"/>
            <a:ext cx="1005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1664208" y="5422392"/>
            <a:ext cx="9784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building fraud rules around channel or region
</a:t>
            </a:r>
            <a:r>
              <a:rPr lang="en-US" sz="10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and ANOVA confirm fraud is not tied to channel or region — focus on rooted devices and high-value amounts instead.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resize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94360" y="47548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635508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17320" y="43891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1417320" y="10789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a foundation — here is where it goes next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499720" y="1627632"/>
            <a:ext cx="2633472" cy="3090672"/>
          </a:xfrm>
          <a:prstGeom prst="roundRect">
            <a:avLst>
              <a:gd name="adj" fmla="val 2431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5"/>
          <p:cNvSpPr/>
          <p:nvPr/>
        </p:nvSpPr>
        <p:spPr>
          <a:xfrm>
            <a:off x="1432408" y="1856232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4432" y="204825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1160" y="2770632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Scoring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82600" y="3493008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static risk_score with a live model scoring every transaction before approval. The 7-table structure built here feeds it directly.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3352648" y="1627632"/>
            <a:ext cx="2633472" cy="3090672"/>
          </a:xfrm>
          <a:prstGeom prst="roundRect">
            <a:avLst>
              <a:gd name="adj" fmla="val 2431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4285336" y="1856232"/>
            <a:ext cx="768096" cy="7680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7360" y="2048256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444088" y="2770632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535528" y="3493008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transaction frequency, satisfaction scores (avg 3.61/5) and device activity patterns to flag at-risk customers before they leave.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6205576" y="1627632"/>
            <a:ext cx="2633472" cy="3090672"/>
          </a:xfrm>
          <a:prstGeom prst="roundRect">
            <a:avLst>
              <a:gd name="adj" fmla="val 2431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3"/>
          <p:cNvSpPr/>
          <p:nvPr/>
        </p:nvSpPr>
        <p:spPr>
          <a:xfrm>
            <a:off x="7138264" y="1856232"/>
            <a:ext cx="768096" cy="768096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0288" y="2048256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297016" y="2770632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Rating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6388456" y="3493008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dynamic health score updating weekly on fraud ratio, failure rate and volume — not a static onboarding risk_score.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9058504" y="1627632"/>
            <a:ext cx="2633472" cy="3090672"/>
          </a:xfrm>
          <a:prstGeom prst="roundRect">
            <a:avLst>
              <a:gd name="adj" fmla="val 2431"/>
            </a:avLst>
          </a:prstGeom>
          <a:solidFill>
            <a:srgbClr val="111827">
              <a:alpha val="90000"/>
            </a:srgbClr>
          </a:solidFill>
          <a:ln w="1143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7"/>
          <p:cNvSpPr/>
          <p:nvPr/>
        </p:nvSpPr>
        <p:spPr>
          <a:xfrm>
            <a:off x="9991192" y="1856232"/>
            <a:ext cx="768096" cy="768096"/>
          </a:xfrm>
          <a:prstGeom prst="ellipse">
            <a:avLst/>
          </a:prstGeom>
          <a:solidFill>
            <a:srgbClr val="B98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3216" y="2048256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149944" y="2770632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Geo-Based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9241384" y="3493008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location data is added, transactions from unusual locations can be automatically flagged for extra verification.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4389120" y="5120640"/>
            <a:ext cx="3429000" cy="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1"/>
          <p:cNvSpPr/>
          <p:nvPr/>
        </p:nvSpPr>
        <p:spPr>
          <a:xfrm>
            <a:off x="1371600" y="5285232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happy to take questions</a:t>
            </a:r>
            <a:endParaRPr lang="en-US" sz="1900" dirty="0"/>
          </a:p>
        </p:txBody>
      </p:sp>
      <p:sp>
        <p:nvSpPr>
          <p:cNvPr id="30" name="Text 22"/>
          <p:cNvSpPr/>
          <p:nvPr/>
        </p:nvSpPr>
        <p:spPr>
          <a:xfrm>
            <a:off x="1371600" y="58978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Gopal Sarkar  |  Career247  |  June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1796</Words>
  <Application>Microsoft Office PowerPoint</Application>
  <PresentationFormat>Widescreen</PresentationFormat>
  <Paragraphs>189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UPI Transaction Risk &amp; Performance Analysis</dc:title>
  <dc:subject>PptxGenJS Presentation</dc:subject>
  <dc:creator>Gopal Sarkar</dc:creator>
  <cp:lastModifiedBy>gopal sarkar</cp:lastModifiedBy>
  <cp:revision>1</cp:revision>
  <dcterms:created xsi:type="dcterms:W3CDTF">2026-06-18T04:37:34Z</dcterms:created>
  <dcterms:modified xsi:type="dcterms:W3CDTF">2026-06-21T19:05:43Z</dcterms:modified>
</cp:coreProperties>
</file>